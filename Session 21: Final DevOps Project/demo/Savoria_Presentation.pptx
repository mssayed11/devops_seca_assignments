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6e4a38f-5f35-559f-e603-dfd96908b2e5}">
          <p14:sldIdLst>
            <p14:sldId id="256"/>
          </p14:sldIdLst>
        </p14:section>
        <p14:section name="M1" id="{530d9ba5-8893-84c8-25b7-67ffef9f6be3}">
          <p14:sldIdLst>
            <p14:sldId id="257"/>
          </p14:sldIdLst>
        </p14:section>
        <p14:section name="M2" id="{86979a28-1224-087e-3273-b069e23add4c}">
          <p14:sldIdLst>
            <p14:sldId id="258"/>
          </p14:sldIdLst>
        </p14:section>
        <p14:section name="M3" id="{5455b061-2c58-ae6c-9de4-12e81cb169cb}">
          <p14:sldIdLst>
            <p14:sldId id="259"/>
          </p14:sldIdLst>
        </p14:section>
        <p14:section name="M4" id="{51b05d24-6c23-5976-77fe-f416636a03bc}">
          <p14:sldIdLst>
            <p14:sldId id="260"/>
          </p14:sldIdLst>
        </p14:section>
        <p14:section name="M5" id="{2b4d16d4-f291-6e2d-2f64-419305f4a779}">
          <p14:sldIdLst>
            <p14:sldId id="261"/>
          </p14:sldIdLst>
        </p14:section>
        <p14:section name="M6" id="{1ac7d681-f17d-fb3a-4b39-d432c384a100}">
          <p14:sldIdLst>
            <p14:sldId id="262"/>
          </p14:sldIdLst>
        </p14:section>
        <p14:section name="M7" id="{753592eb-fef0-b8b8-5014-dc083f9b1e5d}">
          <p14:sldIdLst>
            <p14:sldId id="263"/>
          </p14:sldIdLst>
        </p14:section>
        <p14:section name="M8" id="{1ce565f4-db47-fd14-76cf-f6d35d12a7b7}">
          <p14:sldIdLst>
            <p14:sldId id="264"/>
          </p14:sldIdLst>
        </p14:section>
        <p14:section name="M9" id="{38b67829-26d1-86ba-ea93-d69ed1216432}">
          <p14:sldIdLst>
            <p14:sldId id="265"/>
          </p14:sldIdLst>
        </p14:section>
        <p14:section name="M10" id="{9987dcae-dba0-5992-769f-0b56cadca6c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Savoria: a restaurant operations platform (menu, tables, reservations, kitchen orders). The project covers all ten capstone modules, from the application itself to Kubernetes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exposes health, readiness and metrics probes plus CRUD for four entities. Business rules (capacity, double-booking, order state machine) live in the API, not just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tests run in about a second against an in-memory SQLite database, so production data is never touched. CI runs the same suite before any image is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history shows the build order of the project, with one scoped commit per layer: database, API, tests, Docker, frontend, Compose, Kubernetes, Terraform, observability and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containers drop root. The frontend uses a multi-stage build so no Node toolchain ships in the final image. Compose brings up the whole stack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 run in sequence and each needs the previous one: tests, build plus scan plus publish, then a Helm deploy. Run number 10 finished green in 1 minute 36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Trivy runs against both freshly built images before anything is pushed to the registry. It reports only high and critical vulnerabilities that already have a fix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infrastructure is cost-optimised: public subnets only, no NAT gateway, two small nodes. The plan was validated and reviewed; nothing here depends on committed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was linted and deployed to a local kind cluster: five pods running, two backend, two frontend and one PostgreSQL. Ingress routes the UI and API by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scrapes the backend and Grafana turns those metrics into request-rate, CPU, memory and health panels. The numbers on screen come from real requests to the running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Kubernetes failure drills are documented with symptoms, diagnosis and fix. For the live demo, push a small change and follow it through the pipeline to a rolling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Savoria — Restaurant Management Platform  |  M S Sayed (@MSSAYED11)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Savor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58368" cy="630936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371600" y="502920"/>
            <a:ext cx="7315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DEVOPS ENGINEERING CAPSTONE  ·  SESSION 21</a:t>
            </a:r>
            <a:endParaRPr lang="en-US" sz="12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Savoria</a:t>
            </a:r>
            <a:endParaRPr lang="en-US" sz="6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Restaurant Management Platform</a:t>
            </a:r>
            <a:endParaRPr lang="en-US" sz="2200" dirty="0"/>
          </a:p>
        </p:txBody>
      </p:sp>
      <p:sp>
        <p:nvSpPr>
          <p:cNvPr id="6" name="Description"/>
          <p:cNvSpPr txBox="1"/>
          <p:nvPr/>
        </p:nvSpPr>
        <p:spPr>
          <a:xfrm>
            <a:off x="548640" y="35204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cloud-native platform for menu catalog, dining floor, reservations and kitchen orders, delivered through the complete 10-module DevOps lifecycle.</a:t>
            </a:r>
            <a:endParaRPr lang="en-US" sz="1600" dirty="0"/>
          </a:p>
        </p:txBody>
      </p:sp>
      <p:sp>
        <p:nvSpPr>
          <p:cNvPr id="7" name="Author"/>
          <p:cNvSpPr txBox="1"/>
          <p:nvPr/>
        </p:nvSpPr>
        <p:spPr>
          <a:xfrm>
            <a:off x="548640" y="5257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Author: M S Sayed (@MSSAYED11)  |  DevOps Engineering Capstone</a:t>
            </a:r>
            <a:endParaRPr lang="en-US" sz="1400" dirty="0"/>
          </a:p>
        </p:txBody>
      </p:sp>
      <p:sp>
        <p:nvSpPr>
          <p:cNvPr id="8" name="Evidence title panel"/>
          <p:cNvSpPr/>
          <p:nvPr/>
        </p:nvSpPr>
        <p:spPr>
          <a:xfrm>
            <a:off x="6400800" y="1463040"/>
            <a:ext cx="5239512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Evidence title" descr="Evidence: Savoria executive dashboard (React + Vit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57346"/>
            <a:ext cx="4965192" cy="2611789"/>
          </a:xfrm>
          <a:prstGeom prst="rect">
            <a:avLst/>
          </a:prstGeom>
        </p:spPr>
      </p:pic>
      <p:sp>
        <p:nvSpPr>
          <p:cNvPr id="10" name="Evidence title caption"/>
          <p:cNvSpPr txBox="1"/>
          <p:nvPr/>
        </p:nvSpPr>
        <p:spPr>
          <a:xfrm>
            <a:off x="6400800" y="47365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Evidence: Savoria executive dashboard (React + Vite)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M1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· APPLICATION CORE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FastAPI Backend, PostgreSQL &amp; React Dashboard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M1 criteria: /health probe, 4+ REST endpoints, Alembic migrations and a React UI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Probes and 21 REST routes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/health, /ready and /metrics, plus full CRUD under /api for menu, tables, reservations and orders.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 with Alembic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PostgreSQL 16 schema versioned by Alembic; migrations run automatically when the backend starts.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 rules in the API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Over-capacity bookings return 400, double-booking returns 409, orders follow PLACED to PAID.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Dark-luxury React UI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Vite/React app with live KPI cards, menu catalog, dining tables, reservations and kitchen orders.</a:t>
            </a:r>
            <a:endParaRPr lang="en-US" sz="1600" dirty="0"/>
          </a:p>
        </p:txBody>
      </p:sp>
      <p:sp>
        <p:nvSpPr>
          <p:cNvPr id="14" name="Evidence M1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1" descr="Evidence: FastAPI Swagger UI at :8000/do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63186"/>
            <a:ext cx="4965192" cy="2611789"/>
          </a:xfrm>
          <a:prstGeom prst="rect">
            <a:avLst/>
          </a:prstGeom>
        </p:spPr>
      </p:pic>
      <p:sp>
        <p:nvSpPr>
          <p:cNvPr id="16" name="Evidence M1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FastAPI Swagger UI at :8000/docs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M2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· TESTING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Automated Pytest Suite with an Isolated Database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M2 criteria: clean pytest -v run, 5+ test cases, isolated database and pytest.ini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11 test cases, all passing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Well past the 5-test minimum: health, ready, CRUD, capacity, double-booking and order tests.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Business-rule coverage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Tests cover capacity limits, double-booking prevention and valid versus invalid order transitions.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Isolated SQLite via conftest.py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SQLAlchemy dependency overrides keep every test off the PostgreSQL data.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 regression gate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11 passed in 1.32 s; the same suite is the first CI job and blocks image builds if it fails.</a:t>
            </a:r>
            <a:endParaRPr lang="en-US" sz="1600" dirty="0"/>
          </a:p>
        </p:txBody>
      </p:sp>
      <p:sp>
        <p:nvSpPr>
          <p:cNvPr id="14" name="Evidence M2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2" descr="Evidence: pytest -v, 11 of 11 tests passing (1.32 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012133"/>
            <a:ext cx="4965192" cy="2113894"/>
          </a:xfrm>
          <a:prstGeom prst="rect">
            <a:avLst/>
          </a:prstGeom>
        </p:spPr>
      </p:pic>
      <p:sp>
        <p:nvSpPr>
          <p:cNvPr id="16" name="Evidence M2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pytest -v, 11 of 11 tests passing (1.32 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M3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· VERSION CONTROL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Conventional Commits &amp; Repository Hygiene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M3 criteria: 10+ meaningful commits, descriptive messages and a clean .gitignore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24 project commits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22 follow Conventional Commits with feat, ci, test, fix, docs and chore prefixes and scopes.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Scoped, meaningful messages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 example feat(db) for migrations, test(backend) for the pytest suite, feat(k8s) for the Helm chart.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Strict .gitignore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Excludes .env, keys, __pycache__, .venv, node_modules, Terraform state and tfvars files.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Secrets-free, modular repo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credentials committed; backend, frontend, helm, terraform, k8s, monitoring and troubleshooting folders.</a:t>
            </a:r>
            <a:endParaRPr lang="en-US" sz="1600" dirty="0"/>
          </a:p>
        </p:txBody>
      </p:sp>
      <p:sp>
        <p:nvSpPr>
          <p:cNvPr id="14" name="Evidence M3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3" descr="Evidence: git log --oneline -n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959435"/>
            <a:ext cx="4965192" cy="2219290"/>
          </a:xfrm>
          <a:prstGeom prst="rect">
            <a:avLst/>
          </a:prstGeom>
        </p:spPr>
      </p:pic>
      <p:sp>
        <p:nvSpPr>
          <p:cNvPr id="16" name="Evidence M3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git log --oneline -n 12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M4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· CONTAINERIZATION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Non-Root Containers &amp; a One-Command Compose Stack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M4 criteria: backend Dockerfile, multi-stage frontend, non-root users and Docker Compose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Multi-stage frontend build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Node 22 Alpine builds the Vite bundle; only static files are copied into nginx:1.27-alpine.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Non-root execution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Backend runs as appuser (UID 10001); the frontend runs as the nginx user on port 8080.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Single-command Compose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docker compose up --build starts backend, frontend and PostgreSQL 16 with a database healthcheck.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Lean images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Content size is 70.4 MB for the backend image and 26.1 MB for the frontend image.</a:t>
            </a:r>
            <a:endParaRPr lang="en-US" sz="1600" dirty="0"/>
          </a:p>
        </p:txBody>
      </p:sp>
      <p:sp>
        <p:nvSpPr>
          <p:cNvPr id="14" name="Evidence M4a panel"/>
          <p:cNvSpPr/>
          <p:nvPr/>
        </p:nvSpPr>
        <p:spPr>
          <a:xfrm>
            <a:off x="6400800" y="2377440"/>
            <a:ext cx="523951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4a" descr="/tmp/work/crop/01-docker-compose-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902978"/>
            <a:ext cx="4965192" cy="549124"/>
          </a:xfrm>
          <a:prstGeom prst="rect">
            <a:avLst/>
          </a:prstGeom>
        </p:spPr>
      </p:pic>
      <p:sp>
        <p:nvSpPr>
          <p:cNvPr id="16" name="Evidence M4a caption"/>
          <p:cNvSpPr txBox="1"/>
          <p:nvPr/>
        </p:nvSpPr>
        <p:spPr>
          <a:xfrm>
            <a:off x="6400800" y="40507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Evidence M4b panel"/>
          <p:cNvSpPr/>
          <p:nvPr/>
        </p:nvSpPr>
        <p:spPr>
          <a:xfrm>
            <a:off x="6400800" y="4160520"/>
            <a:ext cx="523951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8" name="Evidence M4b" descr="Evidence: docker compose ps and docker images (full size in READM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561013"/>
            <a:ext cx="4965192" cy="799213"/>
          </a:xfrm>
          <a:prstGeom prst="rect">
            <a:avLst/>
          </a:prstGeom>
        </p:spPr>
      </p:pic>
      <p:sp>
        <p:nvSpPr>
          <p:cNvPr id="19" name="Evidence M4b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docker compose ps and docker images (full size in README)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M5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· CI/CD PIPELINE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3-Job GitHub Actions Pipeline Publishing to GHCR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M5 criteria: push-to-main trigger, pytest gate, frontend build and SHA-tagged GHCR images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1: Tests (22 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Runs backend pytest and the Vite frontend build on every push and pull request to main.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2: Build, Scan, Publish (1 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Builds both images, runs Trivy, then pushes to ghcr.io/mssayed11.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Commit-SHA image tags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image is pushed tagged with the full Git commit SHA, alongside a latest convenience tag.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3: Helm deploy (6 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Runs helm upgrade --install with the SHA tag; skips safely if no cluster credentials are set.</a:t>
            </a:r>
            <a:endParaRPr lang="en-US" sz="1600" dirty="0"/>
          </a:p>
        </p:txBody>
      </p:sp>
      <p:sp>
        <p:nvSpPr>
          <p:cNvPr id="14" name="Evidence M5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5" descr="Evidence: green pipeline run #10, 1 m 36 s to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63186"/>
            <a:ext cx="4965192" cy="2611789"/>
          </a:xfrm>
          <a:prstGeom prst="rect">
            <a:avLst/>
          </a:prstGeom>
        </p:spPr>
      </p:pic>
      <p:sp>
        <p:nvSpPr>
          <p:cNvPr id="16" name="Evidence M5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green pipeline run #10, 1 m 36 s total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M6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· DEVSECOPS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Trivy Container Vulnerability Scanning in CI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M6 criteria: Trivy scan on both images in CI, HIGH/CRITICAL severities and a written explanation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Both images scanned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Backend and frontend images are scanned with Trivy inside the CI job.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 runs before the push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scan steps sit between the image build and the docker push to GHCR.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and CRITICAL focus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Flags --severity HIGH,CRITICAL --ignore-unfixed report fixable serious CVEs only.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Written explanation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trivy-explanation.md explains what is scanned and how to read the result.</a:t>
            </a:r>
            <a:endParaRPr lang="en-US" sz="1600" dirty="0"/>
          </a:p>
        </p:txBody>
      </p:sp>
      <p:sp>
        <p:nvSpPr>
          <p:cNvPr id="14" name="Evidence M6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6" descr="Evidence: Trivy scan steps in the CI job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63186"/>
            <a:ext cx="4965192" cy="2611789"/>
          </a:xfrm>
          <a:prstGeom prst="rect">
            <a:avLst/>
          </a:prstGeom>
        </p:spPr>
      </p:pic>
      <p:sp>
        <p:nvSpPr>
          <p:cNvPr id="16" name="Evidence M6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Trivy scan steps in the CI job log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M7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7 · INFRASTRUCTURE AS CODE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AWS VPC &amp; Managed EKS Defined in Terraform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M7 criteria: valid HCL, VPC with 2 public subnets, EKS cluster and terraform.tfvars.example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Two-AZ VPC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10.20.0.0/16 VPC with two public subnets in ap-south-1a and 1b and no NAT gateway, to keep cost low.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Managed EKS cluster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EKS 1.31 control plane with a managed node group of two t3.small nodes.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Validated plan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terraform init and validate succeed; terraform plan reports 49 to add, 0 to change, 0 to destroy.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Secrets-free configuration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terraform.tfvars.example holds placeholders; state and tfvars files are git-ignored.</a:t>
            </a:r>
            <a:endParaRPr lang="en-US" sz="1600" dirty="0"/>
          </a:p>
        </p:txBody>
      </p:sp>
      <p:sp>
        <p:nvSpPr>
          <p:cNvPr id="14" name="Evidence M7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7" descr="Evidence: terraform plan, 49 resources to ad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024423"/>
            <a:ext cx="4965192" cy="2089313"/>
          </a:xfrm>
          <a:prstGeom prst="rect">
            <a:avLst/>
          </a:prstGeom>
        </p:spPr>
      </p:pic>
      <p:sp>
        <p:nvSpPr>
          <p:cNvPr id="16" name="Evidence M7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terraform plan, 49 resources to add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M8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8 · KUBERNETES &amp; HELM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Helm Chart with Ingress Routing &amp; Autoscaling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M8 criteria: namespace.yaml, Helm chart, 2+ replicas, ClusterIP services, Ingress and Running pods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Helm chart for the whole app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helm/restaurant templates backend, frontend, PostgreSQL, Ingress, HPA and ServiceMonitor.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Namespace isolation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k8s/namespace.yaml creates the restaurant namespace that holds every workload.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Replicas and autoscaling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Two replicas each for backend and frontend; the HPA scales the backend 2 to 6 pods at 60% CPU.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Ingress host routing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NGINX Ingress on restaurant.local sends / to the frontend and /api to the backend (ClusterIP).</a:t>
            </a:r>
            <a:endParaRPr lang="en-US" sz="1600" dirty="0"/>
          </a:p>
        </p:txBody>
      </p:sp>
      <p:sp>
        <p:nvSpPr>
          <p:cNvPr id="14" name="Evidence M8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8" descr="Evidence: kubectl get pods -n restaurant, all Running (local kind clust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338430"/>
            <a:ext cx="4965192" cy="1461300"/>
          </a:xfrm>
          <a:prstGeom prst="rect">
            <a:avLst/>
          </a:prstGeom>
        </p:spPr>
      </p:pic>
      <p:sp>
        <p:nvSpPr>
          <p:cNvPr id="16" name="Evidence M8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kubectl get pods -n restaurant, all Running (local kind cluster)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M9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9 · OBSERVABILITY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Prometheus Scraping &amp; Grafana Dashboard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M9 criteria: /metrics endpoint, Prometheus target UP and a Grafana dashboard with live panels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Metrics endpoint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FastAPI exposes /metrics; a ServiceMonitor is set to scrape it every 15 seconds.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verified 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Prometheus Targets page shows restaurant-backend with 1 of 1 targets up.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Grafana panels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Request rate by endpoint, memory (RSS), CPU usage, backend target status and total API requests.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from real traffic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dashboard showed a HEALTHY (UP) backend and 344 cumulative API requests.</a:t>
            </a:r>
            <a:endParaRPr lang="en-US" sz="1600" dirty="0"/>
          </a:p>
        </p:txBody>
      </p:sp>
      <p:sp>
        <p:nvSpPr>
          <p:cNvPr id="14" name="Evidence M9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9" descr="Evidence: Grafana backend and infrastructur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63186"/>
            <a:ext cx="4965192" cy="2611789"/>
          </a:xfrm>
          <a:prstGeom prst="rect">
            <a:avLst/>
          </a:prstGeom>
        </p:spPr>
      </p:pic>
      <p:sp>
        <p:nvSpPr>
          <p:cNvPr id="16" name="Evidence M9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Grafana backend and infrastructure overview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 badge"/>
          <p:cNvSpPr txBox="1"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M10</a:t>
            </a:r>
            <a:endParaRPr lang="en-US" sz="1300" dirty="0"/>
          </a:p>
        </p:txBody>
      </p:sp>
      <p:sp>
        <p:nvSpPr>
          <p:cNvPr id="3" name="Module label"/>
          <p:cNvSpPr txBox="1"/>
          <p:nvPr/>
        </p:nvSpPr>
        <p:spPr>
          <a:xfrm>
            <a:off x="1143000" y="457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10 · VERIFICATION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Troubleshooting Drills &amp; Live Demo Readiness</a:t>
            </a:r>
            <a:endParaRPr lang="en-US" sz="3200" dirty="0"/>
          </a:p>
        </p:txBody>
      </p:sp>
      <p:sp>
        <p:nvSpPr>
          <p:cNvPr id="5" name="Criteria line"/>
          <p:cNvSpPr txBox="1"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Fulfilling M10 criteria: professional README, failure-scenario exercises and a demo walkthrough</a:t>
            </a:r>
            <a:endParaRPr lang="en-US" sz="1400" dirty="0"/>
          </a:p>
        </p:txBody>
      </p:sp>
      <p:sp>
        <p:nvSpPr>
          <p:cNvPr id="6" name="Item 1 number"/>
          <p:cNvSpPr txBox="1"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Item 1"/>
          <p:cNvSpPr txBox="1"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Drill 1: ImagePullBackOff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pod with a non-existent tag; kubectl describe shows the pull error; fix by pinning a valid GHCR SHA tag.</a:t>
            </a:r>
            <a:endParaRPr lang="en-US" sz="1600" dirty="0"/>
          </a:p>
        </p:txBody>
      </p:sp>
      <p:sp>
        <p:nvSpPr>
          <p:cNvPr id="8" name="Item 2 number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Item 2"/>
          <p:cNvSpPr txBox="1"/>
          <p:nvPr/>
        </p:nvSpPr>
        <p:spPr>
          <a:xfrm>
            <a:off x="1005840" y="33101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Drill 2: Empty endpoints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kubectl get endpoints shows none; the Service selector matched no pods; fix by aligning the labels.</a:t>
            </a:r>
            <a:endParaRPr lang="en-US" sz="1600" dirty="0"/>
          </a:p>
        </p:txBody>
      </p:sp>
      <p:sp>
        <p:nvSpPr>
          <p:cNvPr id="10" name="Item 3 number"/>
          <p:cNvSpPr txBox="1"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Item 3"/>
          <p:cNvSpPr txBox="1"/>
          <p:nvPr/>
        </p:nvSpPr>
        <p:spPr>
          <a:xfrm>
            <a:off x="1005840" y="42428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Complete documentation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README covers architecture, quickstart, CI/CD, Terraform, Helm and an M1 to M10 evidence table.</a:t>
            </a:r>
            <a:endParaRPr lang="en-US" sz="1600" dirty="0"/>
          </a:p>
        </p:txBody>
      </p:sp>
      <p:sp>
        <p:nvSpPr>
          <p:cNvPr id="12" name="Item 4 number"/>
          <p:cNvSpPr txBox="1"/>
          <p:nvPr/>
        </p:nvSpPr>
        <p:spPr>
          <a:xfrm>
            <a:off x="548640" y="5193792"/>
            <a:ext cx="310896" cy="31089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Item 4"/>
          <p:cNvSpPr txBox="1"/>
          <p:nvPr/>
        </p:nvSpPr>
        <p:spPr>
          <a:xfrm>
            <a:off x="1005840" y="51755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End-to-end demo flow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Commit, CI tests, Trivy scan, GHCR push, then Helm rolling update on the cluster.</a:t>
            </a:r>
            <a:endParaRPr lang="en-US" sz="1600" dirty="0"/>
          </a:p>
        </p:txBody>
      </p:sp>
      <p:sp>
        <p:nvSpPr>
          <p:cNvPr id="14" name="Evidence M10 panel"/>
          <p:cNvSpPr/>
          <p:nvPr/>
        </p:nvSpPr>
        <p:spPr>
          <a:xfrm>
            <a:off x="6400800" y="2377440"/>
            <a:ext cx="5239512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Evidence M10" descr="Evidence: helm list and ingress for the restaurant rele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366687"/>
            <a:ext cx="4965192" cy="1404786"/>
          </a:xfrm>
          <a:prstGeom prst="rect">
            <a:avLst/>
          </a:prstGeom>
        </p:spPr>
      </p:pic>
      <p:sp>
        <p:nvSpPr>
          <p:cNvPr id="16" name="Evidence M10 caption"/>
          <p:cNvSpPr txBox="1"/>
          <p:nvPr/>
        </p:nvSpPr>
        <p:spPr>
          <a:xfrm>
            <a:off x="6400800" y="583387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Evidence: helm list and ingress for the restaurant release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82512"/>
            <a:ext cx="1371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voria Capstone">
  <a:themeElements>
    <a:clrScheme name="Savoria Capstone">
      <a:dk1>
        <a:srgbClr val="1C1917"/>
      </a:dk1>
      <a:lt1>
        <a:srgbClr val="FFFFFF"/>
      </a:lt1>
      <a:dk2>
        <a:srgbClr val="14110F"/>
      </a:dk2>
      <a:lt2>
        <a:srgbClr val="FFF7ED"/>
      </a:lt2>
      <a:accent1>
        <a:srgbClr val="E8890C"/>
      </a:accent1>
      <a:accent2>
        <a:srgbClr val="B45309"/>
      </a:accent2>
      <a:accent3>
        <a:srgbClr val="78716C"/>
      </a:accent3>
      <a:accent4>
        <a:srgbClr val="F59E0B"/>
      </a:accent4>
      <a:accent5>
        <a:srgbClr val="44403C"/>
      </a:accent5>
      <a:accent6>
        <a:srgbClr val="D6D3D1"/>
      </a:accent6>
      <a:hlink>
        <a:srgbClr val="B45309"/>
      </a:hlink>
      <a:folHlink>
        <a:srgbClr val="78716C"/>
      </a:folHlink>
    </a:clrScheme>
    <a:fontScheme name="Savoria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Savoria — Restaurant Management Platform</dc:title>
  <dc:subject>PptxGenJS Presentation</dc:subject>
  <dc:creator>M S Sayed</dc:creator>
  <cp:lastModifiedBy>M S Sayed</cp:lastModifiedBy>
  <cp:revision>1</cp:revision>
  <dcterms:created xsi:type="dcterms:W3CDTF">2026-10-24T05:58:07Z</dcterms:created>
  <dcterms:modified xsi:type="dcterms:W3CDTF">2026-10-24T05:58:07Z</dcterms:modified>
</cp:coreProperties>
</file>